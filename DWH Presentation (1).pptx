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6" r:id="rId1"/>
  </p:sldMasterIdLst>
  <p:sldIdLst>
    <p:sldId id="256" r:id="rId2"/>
    <p:sldId id="269" r:id="rId3"/>
    <p:sldId id="257" r:id="rId4"/>
    <p:sldId id="259" r:id="rId5"/>
    <p:sldId id="260" r:id="rId6"/>
    <p:sldId id="261" r:id="rId7"/>
    <p:sldId id="272" r:id="rId8"/>
    <p:sldId id="273" r:id="rId9"/>
    <p:sldId id="279" r:id="rId10"/>
    <p:sldId id="280" r:id="rId11"/>
    <p:sldId id="281" r:id="rId12"/>
    <p:sldId id="282" r:id="rId13"/>
    <p:sldId id="283" r:id="rId14"/>
    <p:sldId id="284" r:id="rId15"/>
    <p:sldId id="274" r:id="rId16"/>
    <p:sldId id="275" r:id="rId17"/>
    <p:sldId id="265" r:id="rId18"/>
    <p:sldId id="277" r:id="rId19"/>
    <p:sldId id="278" r:id="rId20"/>
    <p:sldId id="266" r:id="rId21"/>
    <p:sldId id="267" r:id="rId22"/>
    <p:sldId id="276" r:id="rId23"/>
    <p:sldId id="268" r:id="rId24"/>
  </p:sldIdLst>
  <p:sldSz cx="14630400" cy="8229600"/>
  <p:notesSz cx="14630400" cy="8229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677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1054" y="822960"/>
            <a:ext cx="9601200" cy="3566161"/>
          </a:xfrm>
        </p:spPr>
        <p:txBody>
          <a:bodyPr anchor="b">
            <a:normAutofit/>
          </a:bodyPr>
          <a:lstStyle>
            <a:lvl1pPr algn="l">
              <a:defRPr sz="576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1054" y="4612641"/>
            <a:ext cx="7680960" cy="2336800"/>
          </a:xfrm>
        </p:spPr>
        <p:txBody>
          <a:bodyPr anchor="t">
            <a:normAutofit/>
          </a:bodyPr>
          <a:lstStyle>
            <a:lvl1pPr marL="0" indent="0" algn="l">
              <a:buNone/>
              <a:defRPr sz="252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9873614" y="10160"/>
            <a:ext cx="4572000" cy="45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329805" y="109855"/>
            <a:ext cx="7296786" cy="72967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8682990" y="274320"/>
            <a:ext cx="5943600" cy="5943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8803005" y="38734"/>
            <a:ext cx="5823587" cy="5823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9414512" y="731522"/>
            <a:ext cx="5212079" cy="521207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04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8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4" y="2407920"/>
            <a:ext cx="10241281" cy="2737920"/>
          </a:xfrm>
        </p:spPr>
        <p:txBody>
          <a:bodyPr anchor="b">
            <a:normAutofit/>
          </a:bodyPr>
          <a:lstStyle>
            <a:lvl1pPr algn="l">
              <a:defRPr sz="432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6" y="5394960"/>
            <a:ext cx="10241280" cy="179832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1054" y="822961"/>
            <a:ext cx="5925186" cy="433832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69760" y="822961"/>
            <a:ext cx="5921375" cy="433831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9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6497" y="822960"/>
            <a:ext cx="5579744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1054" y="1524635"/>
            <a:ext cx="5925186" cy="3636646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4879" y="822960"/>
            <a:ext cx="5598161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854" y="1514474"/>
            <a:ext cx="5915026" cy="3636646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6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5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7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014" y="822960"/>
            <a:ext cx="4389120" cy="1645920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055" y="822960"/>
            <a:ext cx="7132321" cy="637032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2014" y="2651760"/>
            <a:ext cx="4389120" cy="2509520"/>
          </a:xfrm>
        </p:spPr>
        <p:txBody>
          <a:bodyPr anchor="t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8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374" y="1737360"/>
            <a:ext cx="7223760" cy="1371600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6814" y="1097280"/>
            <a:ext cx="3937169" cy="54864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7374" y="3332480"/>
            <a:ext cx="7225666" cy="2458720"/>
          </a:xfrm>
        </p:spPr>
        <p:txBody>
          <a:bodyPr anchor="t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3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822960" y="640080"/>
            <a:ext cx="12982574" cy="374904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2" y="4612640"/>
            <a:ext cx="9965052" cy="54864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92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1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6" y="822960"/>
            <a:ext cx="12070080" cy="3291840"/>
          </a:xfrm>
        </p:spPr>
        <p:txBody>
          <a:bodyPr anchor="ctr">
            <a:normAutofit/>
          </a:bodyPr>
          <a:lstStyle>
            <a:lvl1pPr algn="l">
              <a:defRPr sz="384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4937760"/>
            <a:ext cx="10243186" cy="225552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66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4" y="822960"/>
            <a:ext cx="10972801" cy="3291840"/>
          </a:xfrm>
        </p:spPr>
        <p:txBody>
          <a:bodyPr anchor="ctr">
            <a:normAutofit/>
          </a:bodyPr>
          <a:lstStyle>
            <a:lvl1pPr algn="l">
              <a:defRPr sz="384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35454" y="4114800"/>
            <a:ext cx="10241280" cy="4572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6" y="5161281"/>
            <a:ext cx="10241280" cy="2021838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38174" y="9746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2494" y="3322321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4958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4" y="4114800"/>
            <a:ext cx="10241280" cy="2036880"/>
          </a:xfrm>
        </p:spPr>
        <p:txBody>
          <a:bodyPr anchor="b">
            <a:normAutofit/>
          </a:bodyPr>
          <a:lstStyle>
            <a:lvl1pPr algn="l">
              <a:defRPr sz="384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3" y="6159577"/>
            <a:ext cx="10243188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01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6" y="822960"/>
            <a:ext cx="10972800" cy="3291840"/>
          </a:xfrm>
        </p:spPr>
        <p:txBody>
          <a:bodyPr anchor="ctr">
            <a:normAutofit/>
          </a:bodyPr>
          <a:lstStyle>
            <a:lvl1pPr algn="l">
              <a:defRPr sz="384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1055" y="4714241"/>
            <a:ext cx="10241281" cy="1259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5974080"/>
            <a:ext cx="10241281" cy="1219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38174" y="9746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2494" y="3322321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4780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6" y="822960"/>
            <a:ext cx="12070080" cy="329184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1054" y="4714241"/>
            <a:ext cx="10241280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5720079"/>
            <a:ext cx="10241281" cy="1473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88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55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22254" y="822960"/>
            <a:ext cx="246888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822960"/>
            <a:ext cx="9387840" cy="637032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7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048363" y="3556000"/>
            <a:ext cx="3578230" cy="385064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054" y="5384799"/>
            <a:ext cx="10241280" cy="18084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822961"/>
            <a:ext cx="10241280" cy="4338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85294" y="7406641"/>
            <a:ext cx="1920240" cy="4381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1054" y="7406641"/>
            <a:ext cx="9052560" cy="4381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5841" y="6694171"/>
            <a:ext cx="1370694" cy="8039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84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019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548640" rtl="0" eaLnBrk="1" latinLnBrk="0" hangingPunct="1">
        <a:spcBef>
          <a:spcPct val="0"/>
        </a:spcBef>
        <a:buNone/>
        <a:defRPr sz="432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6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2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961" y="1946325"/>
            <a:ext cx="7600439" cy="21543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5"/>
              </a:spcBef>
            </a:pPr>
            <a:r>
              <a:rPr lang="en-US" sz="4000" b="1" spc="7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4000" b="1" spc="17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1" spc="-28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000" b="1" spc="17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b="1" spc="17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44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4000" b="1" spc="17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1" spc="10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000" b="1" spc="8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b="1" spc="4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</a:t>
            </a:r>
            <a:r>
              <a:rPr sz="4000" b="1" spc="43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000" b="1" spc="7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sz="4000" b="1" spc="14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sz="4000" b="1" spc="14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4000" b="1" spc="145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Daraz</a:t>
            </a:r>
            <a:r>
              <a:rPr lang="en-US" sz="4000" b="1" spc="14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endParaRPr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7961" y="4179374"/>
            <a:ext cx="7352030" cy="16425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collect, </a:t>
            </a:r>
            <a:r>
              <a:rPr sz="2000" spc="-5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store,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sources.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2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Daraz</a:t>
            </a:r>
            <a:r>
              <a:rPr lang="en-US" sz="2000" spc="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sz="20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 </a:t>
            </a:r>
            <a:r>
              <a:rPr sz="2000" spc="-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making.</a:t>
            </a:r>
          </a:p>
        </p:txBody>
      </p:sp>
      <p:pic>
        <p:nvPicPr>
          <p:cNvPr id="2" name="Picture 4" descr="Data Warehouse Architecture 101: Types, Layers &amp; Compone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3672839"/>
            <a:ext cx="514349" cy="514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5007864"/>
            <a:ext cx="514349" cy="514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4776" y="3672839"/>
            <a:ext cx="514349" cy="514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4776" y="5007864"/>
            <a:ext cx="514349" cy="51434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81303" y="2290991"/>
            <a:ext cx="4857497" cy="6782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6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b="1" spc="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b="1" spc="-1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b="1" spc="-27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17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b="1" spc="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b="1" spc="-2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b="1" spc="-8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b="1" spc="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b="1" spc="-1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b="1" spc="-14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4618" y="3633860"/>
            <a:ext cx="218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160" dirty="0">
                <a:solidFill>
                  <a:srgbClr val="D4D4D0"/>
                </a:solidFill>
                <a:latin typeface="Lucida Sans Unicode"/>
                <a:cs typeface="Lucida Sans Unicode"/>
              </a:rPr>
              <a:t>1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4618" y="4969522"/>
            <a:ext cx="218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160" dirty="0">
                <a:solidFill>
                  <a:srgbClr val="D4D4D0"/>
                </a:solidFill>
                <a:latin typeface="Lucida Sans Unicode"/>
                <a:cs typeface="Lucida Sans Unicode"/>
              </a:rPr>
              <a:t>3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637" y="3633860"/>
            <a:ext cx="218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160" dirty="0">
                <a:solidFill>
                  <a:srgbClr val="D4D4D0"/>
                </a:solidFill>
                <a:latin typeface="Lucida Sans Unicode"/>
                <a:cs typeface="Lucida Sans Unicode"/>
              </a:rPr>
              <a:t>2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6637" y="4969522"/>
            <a:ext cx="218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160" dirty="0">
                <a:solidFill>
                  <a:srgbClr val="D4D4D0"/>
                </a:solidFill>
                <a:latin typeface="Lucida Sans Unicode"/>
                <a:cs typeface="Lucida Sans Unicode"/>
              </a:rPr>
              <a:t>4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8281" y="3567107"/>
            <a:ext cx="1814195" cy="7302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ee</a:t>
            </a:r>
            <a:r>
              <a:rPr sz="20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20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aee</a:t>
            </a:r>
            <a:r>
              <a:rPr sz="200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20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200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sz="2000" spc="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2100</a:t>
            </a:r>
            <a:r>
              <a:rPr sz="2000" spc="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10329" y="3567107"/>
            <a:ext cx="1856105" cy="7302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0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</a:t>
            </a:r>
            <a:r>
              <a:rPr sz="20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20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CT-21010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8281" y="4960502"/>
            <a:ext cx="1779270" cy="8712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20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2000" spc="-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0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CT-21018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10329" y="4960502"/>
            <a:ext cx="2021839" cy="8712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spc="-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2000" spc="-8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2000" spc="-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7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2000" spc="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13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2000" spc="-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-9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-1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sz="2000" spc="-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endParaRPr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00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CT-21049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231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3" y="1918883"/>
            <a:ext cx="11715497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9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b="1" spc="-2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4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b="1" spc="-2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14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b="1" spc="-2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19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3" y="3142787"/>
            <a:ext cx="3876040" cy="259686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200" b="1" spc="-2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sz="2200" b="1" spc="-13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200" b="1" spc="4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</a:t>
            </a:r>
            <a:endParaRPr sz="2200" b="1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75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750" spc="-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endParaRPr sz="17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lnSpc>
                <a:spcPct val="135700"/>
              </a:lnSpc>
              <a:spcBef>
                <a:spcPts val="5"/>
              </a:spcBef>
            </a:pPr>
            <a:r>
              <a:rPr lang="en-US" sz="1750" spc="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sz="17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75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sz="1750" spc="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</a:t>
            </a:r>
            <a:r>
              <a:rPr lang="en-US" sz="1750" spc="4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Daraz</a:t>
            </a:r>
            <a:r>
              <a:rPr lang="en-US"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50" spc="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sz="1750" spc="-1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 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  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-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</a:t>
            </a:r>
            <a:r>
              <a:rPr sz="175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  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support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company's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decision- </a:t>
            </a:r>
            <a:r>
              <a:rPr sz="175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ss</a:t>
            </a:r>
            <a:r>
              <a:rPr sz="175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7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0661" y="3142787"/>
            <a:ext cx="4041775" cy="77279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200" b="1" spc="30" dirty="0">
                <a:solidFill>
                  <a:schemeClr val="accent1"/>
                </a:solidFill>
                <a:latin typeface="Trebuchet MS"/>
                <a:cs typeface="Trebuchet MS"/>
              </a:rPr>
              <a:t>Benefits</a:t>
            </a:r>
            <a:endParaRPr sz="2200" b="1" dirty="0">
              <a:solidFill>
                <a:schemeClr val="accent1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750" spc="50" dirty="0">
                <a:latin typeface="Tahoma"/>
                <a:cs typeface="Tahoma"/>
              </a:rPr>
              <a:t>By</a:t>
            </a:r>
            <a:r>
              <a:rPr sz="1750" spc="-135" dirty="0">
                <a:latin typeface="Tahoma"/>
                <a:cs typeface="Tahoma"/>
              </a:rPr>
              <a:t> </a:t>
            </a:r>
            <a:r>
              <a:rPr sz="1750" spc="15" dirty="0">
                <a:latin typeface="Tahoma"/>
                <a:cs typeface="Tahoma"/>
              </a:rPr>
              <a:t>centralizing</a:t>
            </a:r>
            <a:r>
              <a:rPr sz="1750" spc="-135" dirty="0">
                <a:latin typeface="Tahoma"/>
                <a:cs typeface="Tahoma"/>
              </a:rPr>
              <a:t> </a:t>
            </a:r>
            <a:r>
              <a:rPr sz="1750" spc="-5" dirty="0">
                <a:latin typeface="Tahoma"/>
                <a:cs typeface="Tahoma"/>
              </a:rPr>
              <a:t>data,</a:t>
            </a:r>
            <a:r>
              <a:rPr sz="1750" spc="-135" dirty="0">
                <a:latin typeface="Tahoma"/>
                <a:cs typeface="Tahoma"/>
              </a:rPr>
              <a:t> </a:t>
            </a:r>
            <a:r>
              <a:rPr sz="1750" spc="15" dirty="0">
                <a:latin typeface="Tahoma"/>
                <a:cs typeface="Tahoma"/>
              </a:rPr>
              <a:t>the</a:t>
            </a:r>
            <a:r>
              <a:rPr sz="1750" spc="-135" dirty="0">
                <a:latin typeface="Tahoma"/>
                <a:cs typeface="Tahoma"/>
              </a:rPr>
              <a:t> </a:t>
            </a:r>
            <a:r>
              <a:rPr sz="1750" spc="15" dirty="0">
                <a:latin typeface="Tahoma"/>
                <a:cs typeface="Tahoma"/>
              </a:rPr>
              <a:t>data</a:t>
            </a:r>
            <a:r>
              <a:rPr sz="1750" spc="-135" dirty="0">
                <a:latin typeface="Tahoma"/>
                <a:cs typeface="Tahoma"/>
              </a:rPr>
              <a:t> </a:t>
            </a:r>
            <a:r>
              <a:rPr sz="1750" spc="15" dirty="0">
                <a:latin typeface="Tahoma"/>
                <a:cs typeface="Tahoma"/>
              </a:rPr>
              <a:t>warehouse</a:t>
            </a:r>
            <a:endParaRPr sz="175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0661" y="3985018"/>
            <a:ext cx="404177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4035" algn="l"/>
                <a:tab pos="1520825" algn="l"/>
                <a:tab pos="2139315" algn="l"/>
                <a:tab pos="3587750" algn="l"/>
              </a:tabLst>
            </a:pPr>
            <a:r>
              <a:rPr sz="1750" spc="30" dirty="0">
                <a:latin typeface="Tahoma"/>
                <a:cs typeface="Tahoma"/>
              </a:rPr>
              <a:t>w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75" dirty="0">
                <a:latin typeface="Tahoma"/>
                <a:cs typeface="Tahoma"/>
              </a:rPr>
              <a:t>l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40" dirty="0">
                <a:latin typeface="Tahoma"/>
                <a:cs typeface="Tahoma"/>
              </a:rPr>
              <a:t>m</a:t>
            </a:r>
            <a:r>
              <a:rPr sz="1750" spc="30" dirty="0">
                <a:latin typeface="Tahoma"/>
                <a:cs typeface="Tahoma"/>
              </a:rPr>
              <a:t>p</a:t>
            </a:r>
            <a:r>
              <a:rPr sz="1750" spc="-5" dirty="0">
                <a:latin typeface="Tahoma"/>
                <a:cs typeface="Tahoma"/>
              </a:rPr>
              <a:t>r</a:t>
            </a:r>
            <a:r>
              <a:rPr sz="1750" spc="15" dirty="0">
                <a:latin typeface="Tahoma"/>
                <a:cs typeface="Tahoma"/>
              </a:rPr>
              <a:t>o</a:t>
            </a:r>
            <a:r>
              <a:rPr sz="1750" spc="-25" dirty="0">
                <a:latin typeface="Tahoma"/>
                <a:cs typeface="Tahoma"/>
              </a:rPr>
              <a:t>v</a:t>
            </a:r>
            <a:r>
              <a:rPr sz="1750" spc="40" dirty="0">
                <a:latin typeface="Tahoma"/>
                <a:cs typeface="Tahoma"/>
              </a:rPr>
              <a:t>e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30" dirty="0">
                <a:latin typeface="Tahoma"/>
                <a:cs typeface="Tahoma"/>
              </a:rPr>
              <a:t>d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15" dirty="0">
                <a:latin typeface="Tahoma"/>
                <a:cs typeface="Tahoma"/>
              </a:rPr>
              <a:t>a</a:t>
            </a:r>
            <a:r>
              <a:rPr sz="1750" dirty="0">
                <a:latin typeface="Tahoma"/>
                <a:cs typeface="Tahoma"/>
              </a:rPr>
              <a:t>	a</a:t>
            </a:r>
            <a:r>
              <a:rPr sz="1750" spc="55" dirty="0">
                <a:latin typeface="Tahoma"/>
                <a:cs typeface="Tahoma"/>
              </a:rPr>
              <a:t>cc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spc="55" dirty="0">
                <a:latin typeface="Tahoma"/>
                <a:cs typeface="Tahoma"/>
              </a:rPr>
              <a:t>ss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30" dirty="0">
                <a:latin typeface="Tahoma"/>
                <a:cs typeface="Tahoma"/>
              </a:rPr>
              <a:t>b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-15" dirty="0">
                <a:latin typeface="Tahoma"/>
                <a:cs typeface="Tahoma"/>
              </a:rPr>
              <a:t>y</a:t>
            </a:r>
            <a:r>
              <a:rPr sz="1750" spc="-55" dirty="0">
                <a:latin typeface="Tahoma"/>
                <a:cs typeface="Tahoma"/>
              </a:rPr>
              <a:t>,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30" dirty="0">
                <a:latin typeface="Tahoma"/>
                <a:cs typeface="Tahoma"/>
              </a:rPr>
              <a:t>d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15" dirty="0">
                <a:latin typeface="Tahoma"/>
                <a:cs typeface="Tahoma"/>
              </a:rPr>
              <a:t>a</a:t>
            </a:r>
            <a:endParaRPr sz="175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0661" y="4252023"/>
            <a:ext cx="4041775" cy="699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  <a:tabLst>
                <a:tab pos="1016000" algn="l"/>
                <a:tab pos="1176655" algn="l"/>
                <a:tab pos="1661160" algn="l"/>
                <a:tab pos="2070100" algn="l"/>
                <a:tab pos="2442210" algn="l"/>
                <a:tab pos="2840355" algn="l"/>
                <a:tab pos="3131820" algn="l"/>
              </a:tabLst>
            </a:pPr>
            <a:r>
              <a:rPr sz="1750" spc="30" dirty="0">
                <a:latin typeface="Tahoma"/>
                <a:cs typeface="Tahoma"/>
              </a:rPr>
              <a:t>q</a:t>
            </a:r>
            <a:r>
              <a:rPr sz="1750" dirty="0">
                <a:latin typeface="Tahoma"/>
                <a:cs typeface="Tahoma"/>
              </a:rPr>
              <a:t>ua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-15" dirty="0">
                <a:latin typeface="Tahoma"/>
                <a:cs typeface="Tahoma"/>
              </a:rPr>
              <a:t>y</a:t>
            </a:r>
            <a:r>
              <a:rPr sz="1750" spc="-55" dirty="0">
                <a:latin typeface="Tahoma"/>
                <a:cs typeface="Tahoma"/>
              </a:rPr>
              <a:t>,</a:t>
            </a:r>
            <a:r>
              <a:rPr sz="1750" dirty="0">
                <a:latin typeface="Tahoma"/>
                <a:cs typeface="Tahoma"/>
              </a:rPr>
              <a:t>	an</a:t>
            </a:r>
            <a:r>
              <a:rPr sz="1750" spc="45" dirty="0">
                <a:latin typeface="Tahoma"/>
                <a:cs typeface="Tahoma"/>
              </a:rPr>
              <a:t>d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-5" dirty="0">
                <a:latin typeface="Tahoma"/>
                <a:cs typeface="Tahoma"/>
              </a:rPr>
              <a:t>r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spc="30" dirty="0">
                <a:latin typeface="Tahoma"/>
                <a:cs typeface="Tahoma"/>
              </a:rPr>
              <a:t>p</a:t>
            </a:r>
            <a:r>
              <a:rPr sz="1750" spc="15" dirty="0">
                <a:latin typeface="Tahoma"/>
                <a:cs typeface="Tahoma"/>
              </a:rPr>
              <a:t>o</a:t>
            </a:r>
            <a:r>
              <a:rPr sz="1750" spc="-5" dirty="0">
                <a:latin typeface="Tahoma"/>
                <a:cs typeface="Tahoma"/>
              </a:rPr>
              <a:t>r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dirty="0">
                <a:latin typeface="Tahoma"/>
                <a:cs typeface="Tahoma"/>
              </a:rPr>
              <a:t>n</a:t>
            </a:r>
            <a:r>
              <a:rPr sz="1750" spc="-45" dirty="0">
                <a:latin typeface="Tahoma"/>
                <a:cs typeface="Tahoma"/>
              </a:rPr>
              <a:t>g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55" dirty="0">
                <a:latin typeface="Tahoma"/>
                <a:cs typeface="Tahoma"/>
              </a:rPr>
              <a:t>c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30" dirty="0">
                <a:latin typeface="Tahoma"/>
                <a:cs typeface="Tahoma"/>
              </a:rPr>
              <a:t>p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30" dirty="0">
                <a:latin typeface="Tahoma"/>
                <a:cs typeface="Tahoma"/>
              </a:rPr>
              <a:t>b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spc="55" dirty="0">
                <a:latin typeface="Tahoma"/>
                <a:cs typeface="Tahoma"/>
              </a:rPr>
              <a:t>s</a:t>
            </a:r>
            <a:r>
              <a:rPr sz="1750" spc="-55" dirty="0">
                <a:latin typeface="Tahoma"/>
                <a:cs typeface="Tahoma"/>
              </a:rPr>
              <a:t>,  </a:t>
            </a:r>
            <a:r>
              <a:rPr sz="1750" dirty="0">
                <a:latin typeface="Tahoma"/>
                <a:cs typeface="Tahoma"/>
              </a:rPr>
              <a:t>u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40" dirty="0">
                <a:latin typeface="Tahoma"/>
                <a:cs typeface="Tahoma"/>
              </a:rPr>
              <a:t>m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dirty="0">
                <a:latin typeface="Tahoma"/>
                <a:cs typeface="Tahoma"/>
              </a:rPr>
              <a:t>y		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30" dirty="0">
                <a:latin typeface="Tahoma"/>
                <a:cs typeface="Tahoma"/>
              </a:rPr>
              <a:t>d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dirty="0">
                <a:latin typeface="Tahoma"/>
                <a:cs typeface="Tahoma"/>
              </a:rPr>
              <a:t>n</a:t>
            </a:r>
            <a:r>
              <a:rPr sz="1750" spc="-45" dirty="0">
                <a:latin typeface="Tahoma"/>
                <a:cs typeface="Tahoma"/>
              </a:rPr>
              <a:t>g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30" dirty="0">
                <a:latin typeface="Tahoma"/>
                <a:cs typeface="Tahoma"/>
              </a:rPr>
              <a:t>o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40" dirty="0">
                <a:latin typeface="Tahoma"/>
                <a:cs typeface="Tahoma"/>
              </a:rPr>
              <a:t>m</a:t>
            </a:r>
            <a:r>
              <a:rPr sz="1750" spc="15" dirty="0">
                <a:latin typeface="Tahoma"/>
                <a:cs typeface="Tahoma"/>
              </a:rPr>
              <a:t>o</a:t>
            </a:r>
            <a:r>
              <a:rPr sz="1750" spc="-5" dirty="0">
                <a:latin typeface="Tahoma"/>
                <a:cs typeface="Tahoma"/>
              </a:rPr>
              <a:t>r</a:t>
            </a:r>
            <a:r>
              <a:rPr sz="1750" spc="40" dirty="0">
                <a:latin typeface="Tahoma"/>
                <a:cs typeface="Tahoma"/>
              </a:rPr>
              <a:t>e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dirty="0">
                <a:latin typeface="Tahoma"/>
                <a:cs typeface="Tahoma"/>
              </a:rPr>
              <a:t>n</a:t>
            </a:r>
            <a:r>
              <a:rPr sz="1750" spc="-5" dirty="0">
                <a:latin typeface="Tahoma"/>
                <a:cs typeface="Tahoma"/>
              </a:rPr>
              <a:t>f</a:t>
            </a:r>
            <a:r>
              <a:rPr sz="1750" spc="15" dirty="0">
                <a:latin typeface="Tahoma"/>
                <a:cs typeface="Tahoma"/>
              </a:rPr>
              <a:t>o</a:t>
            </a:r>
            <a:r>
              <a:rPr sz="1750" spc="-5" dirty="0">
                <a:latin typeface="Tahoma"/>
                <a:cs typeface="Tahoma"/>
              </a:rPr>
              <a:t>r</a:t>
            </a:r>
            <a:r>
              <a:rPr sz="1750" spc="40" dirty="0">
                <a:latin typeface="Tahoma"/>
                <a:cs typeface="Tahoma"/>
              </a:rPr>
              <a:t>m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spc="45" dirty="0">
                <a:latin typeface="Tahoma"/>
                <a:cs typeface="Tahoma"/>
              </a:rPr>
              <a:t>d</a:t>
            </a:r>
            <a:endParaRPr sz="175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0661" y="5070868"/>
            <a:ext cx="3670939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spc="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75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</a:t>
            </a:r>
            <a:r>
              <a:rPr lang="en-US" sz="1750" spc="55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Daraz</a:t>
            </a:r>
            <a:r>
              <a:rPr sz="1750" spc="-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7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60409" y="3142787"/>
            <a:ext cx="3560445" cy="185864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200" b="1" spc="75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Scope</a:t>
            </a:r>
            <a:endParaRPr sz="2200" b="1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</a:t>
            </a:r>
            <a:r>
              <a:rPr sz="175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extracting,</a:t>
            </a:r>
          </a:p>
          <a:p>
            <a:pPr marL="12700" marR="5080">
              <a:lnSpc>
                <a:spcPct val="135700"/>
              </a:lnSpc>
              <a:spcBef>
                <a:spcPts val="5"/>
              </a:spcBef>
            </a:pP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transforming,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loading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sz="1750" spc="-5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5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csv files from </a:t>
            </a:r>
            <a:r>
              <a:rPr lang="en-US" sz="1750" spc="15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Kaggle</a:t>
            </a:r>
            <a:r>
              <a:rPr lang="en-US" sz="175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1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-1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 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7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0600" y="1388532"/>
            <a:ext cx="6553199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2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b="1" spc="-35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521040"/>
            <a:ext cx="2592846" cy="1143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804" y="5382766"/>
            <a:ext cx="3295650" cy="13906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2209800"/>
            <a:ext cx="2107901" cy="2076788"/>
          </a:xfrm>
          <a:prstGeom prst="rect">
            <a:avLst/>
          </a:prstGeom>
        </p:spPr>
      </p:pic>
      <p:sp>
        <p:nvSpPr>
          <p:cNvPr id="19" name="object 3"/>
          <p:cNvSpPr txBox="1"/>
          <p:nvPr/>
        </p:nvSpPr>
        <p:spPr>
          <a:xfrm>
            <a:off x="5225804" y="2307068"/>
            <a:ext cx="3876040" cy="101694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lang="en-US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chosen database for storing transformed data in a structured and query-friendly format.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object 3"/>
          <p:cNvSpPr txBox="1"/>
          <p:nvPr/>
        </p:nvSpPr>
        <p:spPr>
          <a:xfrm>
            <a:off x="10134600" y="5723507"/>
            <a:ext cx="3876040" cy="101694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lvl="0"/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Selected for visualizing data insights, supporting in-depth analysis.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59006" y="5480345"/>
            <a:ext cx="2592845" cy="1080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for executing ETL processes and data transformations.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2057400" y="3733800"/>
            <a:ext cx="0" cy="1746545"/>
          </a:xfrm>
          <a:prstGeom prst="line">
            <a:avLst/>
          </a:prstGeom>
          <a:ln>
            <a:solidFill>
              <a:schemeClr val="tx1">
                <a:alpha val="60000"/>
              </a:schemeClr>
            </a:solidFill>
          </a:ln>
          <a:effectLst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705600" y="3413315"/>
            <a:ext cx="0" cy="1746545"/>
          </a:xfrm>
          <a:prstGeom prst="line">
            <a:avLst/>
          </a:prstGeom>
          <a:ln>
            <a:solidFill>
              <a:schemeClr val="tx1">
                <a:alpha val="60000"/>
              </a:schemeClr>
            </a:solidFill>
          </a:ln>
          <a:effectLst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1798150" y="4321847"/>
            <a:ext cx="0" cy="1401660"/>
          </a:xfrm>
          <a:prstGeom prst="line">
            <a:avLst/>
          </a:prstGeom>
          <a:ln>
            <a:solidFill>
              <a:schemeClr val="tx1">
                <a:alpha val="60000"/>
              </a:schemeClr>
            </a:solidFill>
          </a:ln>
          <a:effectLst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502" y="1524000"/>
            <a:ext cx="523874" cy="523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937" y="3595456"/>
            <a:ext cx="523874" cy="523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937" y="5863174"/>
            <a:ext cx="523874" cy="5238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8200" y="468865"/>
            <a:ext cx="5867400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3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b="1" spc="-254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2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200" y="4283270"/>
            <a:ext cx="7696200" cy="1052211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Sales.csv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0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Logs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transactions,</a:t>
            </a:r>
            <a:r>
              <a:rPr sz="2000" spc="-1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including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items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sold,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regions,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amounts,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quantities.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200" y="2145813"/>
            <a:ext cx="6324600" cy="1052211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Product.csv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Details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categories,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titles,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relevant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attributes.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200" y="6553200"/>
            <a:ext cx="6553200" cy="11676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Reviews.csv</a:t>
            </a:r>
            <a:endParaRPr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00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Contains</a:t>
            </a:r>
            <a:r>
              <a:rPr sz="2000" spc="-1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</a:t>
            </a:r>
            <a:r>
              <a:rPr sz="2000" spc="-1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reviews,</a:t>
            </a:r>
            <a:r>
              <a:rPr sz="2000" spc="-1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-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ratings,</a:t>
            </a:r>
            <a:r>
              <a:rPr sz="2000" spc="-1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spc="-13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related</a:t>
            </a:r>
            <a:r>
              <a:rPr sz="2000" spc="-13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</a:t>
            </a:r>
            <a:r>
              <a:rPr sz="2000" spc="-1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identifiers.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AutoShape 2" descr="Kaggle - Wikipedia"/>
          <p:cNvSpPr>
            <a:spLocks noChangeAspect="1" noChangeArrowheads="1"/>
          </p:cNvSpPr>
          <p:nvPr/>
        </p:nvSpPr>
        <p:spPr bwMode="auto">
          <a:xfrm>
            <a:off x="10515600" y="2893223"/>
            <a:ext cx="2745568" cy="274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46261"/>
            <a:ext cx="5943600" cy="38019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1800" y="846261"/>
            <a:ext cx="6096000" cy="38019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4724400"/>
            <a:ext cx="6629400" cy="2971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2068" y="92440"/>
            <a:ext cx="6869481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9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FILES OVERVIEW 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9" y="1355433"/>
            <a:ext cx="381000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xtract</a:t>
            </a: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7561" y="2270080"/>
            <a:ext cx="6019799" cy="1770998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>
              <a:lnSpc>
                <a:spcPts val="2180"/>
              </a:lnSpc>
            </a:pPr>
            <a:r>
              <a:rPr sz="2500" spc="20" dirty="0" smtClean="0">
                <a:latin typeface="Tahoma"/>
                <a:cs typeface="Tahoma"/>
              </a:rPr>
              <a:t>Each</a:t>
            </a:r>
            <a:r>
              <a:rPr sz="2500" spc="-114" dirty="0" smtClean="0">
                <a:latin typeface="Tahoma"/>
                <a:cs typeface="Tahoma"/>
              </a:rPr>
              <a:t> </a:t>
            </a:r>
            <a:r>
              <a:rPr sz="2500" spc="25" dirty="0">
                <a:latin typeface="Tahoma"/>
                <a:cs typeface="Tahoma"/>
              </a:rPr>
              <a:t>file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(Product.csv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product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details,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Sales.csv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transactions,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and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Reviews.csv </a:t>
            </a:r>
            <a:r>
              <a:rPr sz="2500" spc="-409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25" dirty="0">
                <a:latin typeface="Tahoma"/>
                <a:cs typeface="Tahoma"/>
              </a:rPr>
              <a:t>customer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feedback)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30" dirty="0">
                <a:latin typeface="Tahoma"/>
                <a:cs typeface="Tahoma"/>
              </a:rPr>
              <a:t>was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read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into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data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frames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using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30" dirty="0">
                <a:latin typeface="Tahoma"/>
                <a:cs typeface="Tahoma"/>
              </a:rPr>
              <a:t>Python’s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pandas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library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 </a:t>
            </a:r>
            <a:r>
              <a:rPr sz="2500" spc="1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5" dirty="0">
                <a:latin typeface="Tahoma"/>
                <a:cs typeface="Tahoma"/>
              </a:rPr>
              <a:t>n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10" dirty="0">
                <a:latin typeface="Tahoma"/>
                <a:cs typeface="Tahoma"/>
              </a:rPr>
              <a:t>t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5" dirty="0">
                <a:latin typeface="Tahoma"/>
                <a:cs typeface="Tahoma"/>
              </a:rPr>
              <a:t>a</a:t>
            </a:r>
            <a:r>
              <a:rPr sz="2500" spc="60" dirty="0">
                <a:latin typeface="Tahoma"/>
                <a:cs typeface="Tahoma"/>
              </a:rPr>
              <a:t>l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5" dirty="0">
                <a:latin typeface="Tahoma"/>
                <a:cs typeface="Tahoma"/>
              </a:rPr>
              <a:t>n</a:t>
            </a:r>
            <a:r>
              <a:rPr sz="2500" spc="45" dirty="0">
                <a:latin typeface="Tahoma"/>
                <a:cs typeface="Tahoma"/>
              </a:rPr>
              <a:t>s</a:t>
            </a:r>
            <a:r>
              <a:rPr sz="2500" spc="30" dirty="0">
                <a:latin typeface="Tahoma"/>
                <a:cs typeface="Tahoma"/>
              </a:rPr>
              <a:t>p</a:t>
            </a:r>
            <a:r>
              <a:rPr sz="2500" spc="20" dirty="0">
                <a:latin typeface="Tahoma"/>
                <a:cs typeface="Tahoma"/>
              </a:rPr>
              <a:t>e</a:t>
            </a:r>
            <a:r>
              <a:rPr sz="2500" spc="45" dirty="0">
                <a:latin typeface="Tahoma"/>
                <a:cs typeface="Tahoma"/>
              </a:rPr>
              <a:t>c</a:t>
            </a:r>
            <a:r>
              <a:rPr sz="2500" spc="10" dirty="0">
                <a:latin typeface="Tahoma"/>
                <a:cs typeface="Tahoma"/>
              </a:rPr>
              <a:t>t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15" dirty="0">
                <a:latin typeface="Tahoma"/>
                <a:cs typeface="Tahoma"/>
              </a:rPr>
              <a:t>on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an</a:t>
            </a:r>
            <a:r>
              <a:rPr sz="2500" spc="40" dirty="0">
                <a:latin typeface="Tahoma"/>
                <a:cs typeface="Tahoma"/>
              </a:rPr>
              <a:t>d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30" dirty="0">
                <a:latin typeface="Tahoma"/>
                <a:cs typeface="Tahoma"/>
              </a:rPr>
              <a:t>p</a:t>
            </a:r>
            <a:r>
              <a:rPr sz="2500" dirty="0">
                <a:latin typeface="Tahoma"/>
                <a:cs typeface="Tahoma"/>
              </a:rPr>
              <a:t>r</a:t>
            </a:r>
            <a:r>
              <a:rPr sz="2500" spc="20" dirty="0">
                <a:latin typeface="Tahoma"/>
                <a:cs typeface="Tahoma"/>
              </a:rPr>
              <a:t>e</a:t>
            </a:r>
            <a:r>
              <a:rPr sz="2500" spc="30" dirty="0">
                <a:latin typeface="Tahoma"/>
                <a:cs typeface="Tahoma"/>
              </a:rPr>
              <a:t>p</a:t>
            </a:r>
            <a:r>
              <a:rPr sz="2500" spc="5" dirty="0">
                <a:latin typeface="Tahoma"/>
                <a:cs typeface="Tahoma"/>
              </a:rPr>
              <a:t>a</a:t>
            </a:r>
            <a:r>
              <a:rPr sz="2500" dirty="0">
                <a:latin typeface="Tahoma"/>
                <a:cs typeface="Tahoma"/>
              </a:rPr>
              <a:t>r</a:t>
            </a:r>
            <a:r>
              <a:rPr sz="2500" spc="5" dirty="0">
                <a:latin typeface="Tahoma"/>
                <a:cs typeface="Tahoma"/>
              </a:rPr>
              <a:t>a</a:t>
            </a:r>
            <a:r>
              <a:rPr sz="2500" spc="10" dirty="0">
                <a:latin typeface="Tahoma"/>
                <a:cs typeface="Tahoma"/>
              </a:rPr>
              <a:t>t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15" dirty="0">
                <a:latin typeface="Tahoma"/>
                <a:cs typeface="Tahoma"/>
              </a:rPr>
              <a:t>on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-5" dirty="0">
                <a:latin typeface="Tahoma"/>
                <a:cs typeface="Tahoma"/>
              </a:rPr>
              <a:t>f</a:t>
            </a:r>
            <a:r>
              <a:rPr sz="2500" spc="15" dirty="0">
                <a:latin typeface="Tahoma"/>
                <a:cs typeface="Tahoma"/>
              </a:rPr>
              <a:t>o</a:t>
            </a:r>
            <a:r>
              <a:rPr sz="2500" spc="10" dirty="0">
                <a:latin typeface="Tahoma"/>
                <a:cs typeface="Tahoma"/>
              </a:rPr>
              <a:t>r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t</a:t>
            </a:r>
            <a:r>
              <a:rPr sz="2500" dirty="0">
                <a:latin typeface="Tahoma"/>
                <a:cs typeface="Tahoma"/>
              </a:rPr>
              <a:t>r</a:t>
            </a:r>
            <a:r>
              <a:rPr sz="2500" spc="5" dirty="0">
                <a:latin typeface="Tahoma"/>
                <a:cs typeface="Tahoma"/>
              </a:rPr>
              <a:t>an</a:t>
            </a:r>
            <a:r>
              <a:rPr sz="2500" spc="45" dirty="0">
                <a:latin typeface="Tahoma"/>
                <a:cs typeface="Tahoma"/>
              </a:rPr>
              <a:t>s</a:t>
            </a:r>
            <a:r>
              <a:rPr sz="2500" spc="-5" dirty="0">
                <a:latin typeface="Tahoma"/>
                <a:cs typeface="Tahoma"/>
              </a:rPr>
              <a:t>f</a:t>
            </a:r>
            <a:r>
              <a:rPr sz="2500" spc="15" dirty="0">
                <a:latin typeface="Tahoma"/>
                <a:cs typeface="Tahoma"/>
              </a:rPr>
              <a:t>o</a:t>
            </a:r>
            <a:r>
              <a:rPr sz="2500" dirty="0">
                <a:latin typeface="Tahoma"/>
                <a:cs typeface="Tahoma"/>
              </a:rPr>
              <a:t>r</a:t>
            </a:r>
            <a:r>
              <a:rPr sz="2500" spc="40" dirty="0">
                <a:latin typeface="Tahoma"/>
                <a:cs typeface="Tahoma"/>
              </a:rPr>
              <a:t>m</a:t>
            </a:r>
            <a:r>
              <a:rPr sz="2500" spc="5" dirty="0">
                <a:latin typeface="Tahoma"/>
                <a:cs typeface="Tahoma"/>
              </a:rPr>
              <a:t>a</a:t>
            </a:r>
            <a:r>
              <a:rPr sz="2500" spc="10" dirty="0">
                <a:latin typeface="Tahoma"/>
                <a:cs typeface="Tahoma"/>
              </a:rPr>
              <a:t>t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15" dirty="0">
                <a:latin typeface="Tahoma"/>
                <a:cs typeface="Tahoma"/>
              </a:rPr>
              <a:t>o</a:t>
            </a:r>
            <a:r>
              <a:rPr sz="2500" spc="5" dirty="0">
                <a:latin typeface="Tahoma"/>
                <a:cs typeface="Tahoma"/>
              </a:rPr>
              <a:t>n</a:t>
            </a:r>
            <a:r>
              <a:rPr sz="2500" spc="-40" dirty="0">
                <a:latin typeface="Tahoma"/>
                <a:cs typeface="Tahoma"/>
              </a:rPr>
              <a:t>.</a:t>
            </a:r>
            <a:endParaRPr sz="2500" dirty="0">
              <a:latin typeface="Tahoma"/>
              <a:cs typeface="Tahoma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129562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09" y="4191000"/>
            <a:ext cx="6082991" cy="259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2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84823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(HANDLING MISSING VALUES)</a:t>
            </a: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6525"/>
            <a:ext cx="9982200" cy="563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73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76441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01" y="2156525"/>
            <a:ext cx="9220200" cy="5752426"/>
          </a:xfrm>
          <a:prstGeom prst="rect">
            <a:avLst/>
          </a:prstGeom>
        </p:spPr>
      </p:pic>
      <p:sp>
        <p:nvSpPr>
          <p:cNvPr id="6" name="object 4"/>
          <p:cNvSpPr txBox="1">
            <a:spLocks/>
          </p:cNvSpPr>
          <p:nvPr/>
        </p:nvSpPr>
        <p:spPr>
          <a:xfrm>
            <a:off x="585438" y="1097902"/>
            <a:ext cx="8482362" cy="1058623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(HANDLING MISSING VALUES)</a:t>
            </a:r>
            <a:endParaRPr lang="en-US"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687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76441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9800"/>
            <a:ext cx="10151328" cy="5655118"/>
          </a:xfrm>
          <a:prstGeom prst="rect">
            <a:avLst/>
          </a:prstGeom>
        </p:spPr>
      </p:pic>
      <p:sp>
        <p:nvSpPr>
          <p:cNvPr id="6" name="object 4"/>
          <p:cNvSpPr txBox="1">
            <a:spLocks/>
          </p:cNvSpPr>
          <p:nvPr/>
        </p:nvSpPr>
        <p:spPr>
          <a:xfrm>
            <a:off x="585438" y="1097902"/>
            <a:ext cx="8482362" cy="1058623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3400" b="1" spc="-5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br>
              <a:rPr lang="en-US" sz="3400" b="1" spc="-5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spc="-5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(HANDLING MISSING VALUES)</a:t>
            </a:r>
            <a:endParaRPr lang="en-US"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52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100063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VERIFYING THERE ARE NO MISSING VLAUES </a:t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88" y="1901282"/>
            <a:ext cx="3540512" cy="40423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905000"/>
            <a:ext cx="3657600" cy="403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1905000"/>
            <a:ext cx="39624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34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100063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60" y="3657600"/>
            <a:ext cx="8230749" cy="2248214"/>
          </a:xfrm>
          <a:prstGeom prst="rect">
            <a:avLst/>
          </a:prstGeom>
        </p:spPr>
      </p:pic>
      <p:sp>
        <p:nvSpPr>
          <p:cNvPr id="9" name="object 4"/>
          <p:cNvSpPr txBox="1">
            <a:spLocks/>
          </p:cNvSpPr>
          <p:nvPr/>
        </p:nvSpPr>
        <p:spPr>
          <a:xfrm>
            <a:off x="585438" y="1091489"/>
            <a:ext cx="8482362" cy="1071447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pPr marL="12700"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(REMOVING DUPLICATES)</a:t>
            </a:r>
            <a:endParaRPr lang="en-US"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1"/>
          <p:cNvSpPr txBox="1"/>
          <p:nvPr/>
        </p:nvSpPr>
        <p:spPr>
          <a:xfrm>
            <a:off x="585438" y="2407448"/>
            <a:ext cx="6581775" cy="822661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lang="en-US" sz="2500" spc="5" dirty="0" smtClean="0">
                <a:latin typeface="Tahoma"/>
                <a:cs typeface="Tahoma"/>
              </a:rPr>
              <a:t>We have removed duplicates on the basis of primary keys</a:t>
            </a:r>
            <a:endParaRPr sz="25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0179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100063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4"/>
          <p:cNvSpPr txBox="1">
            <a:spLocks/>
          </p:cNvSpPr>
          <p:nvPr/>
        </p:nvSpPr>
        <p:spPr>
          <a:xfrm>
            <a:off x="591014" y="1336386"/>
            <a:ext cx="8406162" cy="1502334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32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pPr marL="12700">
              <a:spcBef>
                <a:spcPts val="95"/>
              </a:spcBef>
            </a:pPr>
            <a:r>
              <a:rPr lang="en-US" sz="32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(Create new columns and data time format)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38" y="3276600"/>
            <a:ext cx="10383699" cy="215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79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100063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4"/>
          <p:cNvSpPr txBox="1">
            <a:spLocks/>
          </p:cNvSpPr>
          <p:nvPr/>
        </p:nvSpPr>
        <p:spPr>
          <a:xfrm>
            <a:off x="585438" y="1270257"/>
            <a:ext cx="8406162" cy="504625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32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Storing cleaned data In new files 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38400"/>
            <a:ext cx="1032603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69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359512"/>
            <a:ext cx="4824762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DENORMALIZATION</a:t>
            </a: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1295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object 11"/>
          <p:cNvSpPr txBox="1"/>
          <p:nvPr/>
        </p:nvSpPr>
        <p:spPr>
          <a:xfrm>
            <a:off x="585438" y="1989309"/>
            <a:ext cx="6581775" cy="19511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500" spc="5" dirty="0" smtClean="0">
                <a:latin typeface="Tahoma"/>
                <a:cs typeface="Tahoma"/>
              </a:rPr>
              <a:t>We</a:t>
            </a:r>
            <a:r>
              <a:rPr sz="2500" spc="-114" dirty="0" smtClean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denormalized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the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data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by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merging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35" dirty="0">
                <a:latin typeface="Tahoma"/>
                <a:cs typeface="Tahoma"/>
              </a:rPr>
              <a:t>sales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with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product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information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into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30" dirty="0">
                <a:latin typeface="Tahoma"/>
                <a:cs typeface="Tahoma"/>
              </a:rPr>
              <a:t>Product-</a:t>
            </a:r>
            <a:endParaRPr sz="2500" dirty="0">
              <a:latin typeface="Tahoma"/>
              <a:cs typeface="Tahoma"/>
            </a:endParaRPr>
          </a:p>
          <a:p>
            <a:pPr marL="12700" marR="5080">
              <a:lnSpc>
                <a:spcPts val="2180"/>
              </a:lnSpc>
            </a:pPr>
            <a:r>
              <a:rPr sz="2500" spc="30" dirty="0">
                <a:latin typeface="Tahoma"/>
                <a:cs typeface="Tahoma"/>
              </a:rPr>
              <a:t>Sales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25" dirty="0">
                <a:latin typeface="Tahoma"/>
                <a:cs typeface="Tahoma"/>
              </a:rPr>
              <a:t>table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and</a:t>
            </a:r>
            <a:r>
              <a:rPr sz="2500" spc="-3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reviews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with</a:t>
            </a:r>
            <a:r>
              <a:rPr sz="2500" spc="-3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product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25" dirty="0">
                <a:latin typeface="Tahoma"/>
                <a:cs typeface="Tahoma"/>
              </a:rPr>
              <a:t>details</a:t>
            </a:r>
            <a:r>
              <a:rPr sz="2500" spc="-3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into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</a:t>
            </a:r>
            <a:r>
              <a:rPr sz="2500" spc="-30" dirty="0">
                <a:latin typeface="Tahoma"/>
                <a:cs typeface="Tahoma"/>
              </a:rPr>
              <a:t> </a:t>
            </a:r>
            <a:r>
              <a:rPr sz="2500" spc="25" dirty="0">
                <a:latin typeface="Tahoma"/>
                <a:cs typeface="Tahoma"/>
              </a:rPr>
              <a:t>Product-Reviews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table,</a:t>
            </a:r>
            <a:r>
              <a:rPr sz="2500" spc="-3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improving </a:t>
            </a:r>
            <a:r>
              <a:rPr sz="2500" spc="-405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query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performance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and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simplifying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35" dirty="0">
                <a:latin typeface="Tahoma"/>
                <a:cs typeface="Tahoma"/>
              </a:rPr>
              <a:t>access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analysis.</a:t>
            </a:r>
            <a:endParaRPr sz="2500" dirty="0">
              <a:latin typeface="Tahoma"/>
              <a:cs typeface="Tahom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39" y="4356613"/>
            <a:ext cx="11530362" cy="29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359512"/>
            <a:ext cx="4367561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0533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9"/>
          <p:cNvSpPr txBox="1"/>
          <p:nvPr/>
        </p:nvSpPr>
        <p:spPr>
          <a:xfrm>
            <a:off x="585438" y="2057400"/>
            <a:ext cx="6510655" cy="1206741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>
              <a:lnSpc>
                <a:spcPts val="2180"/>
              </a:lnSpc>
            </a:pPr>
            <a:r>
              <a:rPr sz="2500" spc="5" dirty="0" smtClean="0">
                <a:latin typeface="Tahoma"/>
                <a:cs typeface="Tahoma"/>
              </a:rPr>
              <a:t>The</a:t>
            </a:r>
            <a:r>
              <a:rPr sz="2500" spc="-114" dirty="0" smtClean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denormalizaed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data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30" dirty="0">
                <a:latin typeface="Tahoma"/>
                <a:cs typeface="Tahoma"/>
              </a:rPr>
              <a:t>was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stored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in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an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SQLite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database,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project_database.db.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This </a:t>
            </a:r>
            <a:r>
              <a:rPr sz="2500" spc="-405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organized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storage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35" dirty="0">
                <a:latin typeface="Tahoma"/>
                <a:cs typeface="Tahoma"/>
              </a:rPr>
              <a:t>allows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fast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querying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analytics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and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reporting.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600306" y="3426626"/>
            <a:ext cx="7857894" cy="43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65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0824" y="526713"/>
            <a:ext cx="6488176" cy="676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13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b="1" spc="-22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9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b="1" spc="9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b="1" spc="9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b="1" spc="-22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17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239005"/>
            <a:ext cx="5048885" cy="64296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0824" y="194315"/>
            <a:ext cx="13346176" cy="13417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spc="13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Illustrations through </a:t>
            </a:r>
            <a:r>
              <a:rPr lang="en-US" b="1" spc="13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Pythons’s</a:t>
            </a:r>
            <a:r>
              <a:rPr lang="en-US" b="1" spc="13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 </a:t>
            </a:r>
            <a:r>
              <a:rPr lang="en-US" b="1" spc="13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6248400" cy="46482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7620000" y="2057400"/>
            <a:ext cx="6477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30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0824" y="194315"/>
            <a:ext cx="13346176" cy="13417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spc="13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Illustrations through Python’s library </a:t>
            </a:r>
            <a:r>
              <a:rPr lang="en-US" b="1" spc="13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981200"/>
            <a:ext cx="6248400" cy="495300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7620000" y="1981200"/>
            <a:ext cx="61722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19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2825496"/>
            <a:ext cx="1133474" cy="36328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2503" y="699097"/>
            <a:ext cx="5191097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4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5650" y="2923074"/>
            <a:ext cx="11243310" cy="108106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000" b="1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  <a:r>
              <a:rPr sz="2000" b="1" spc="-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b="1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  <a:r>
              <a:rPr sz="2000" b="1" spc="-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b="1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</a:t>
            </a:r>
            <a:endParaRPr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Daraz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dashboard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visualizes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indicators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(KPIs)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like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regional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2000" spc="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-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rf</a:t>
            </a:r>
            <a:r>
              <a:rPr sz="200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2000" spc="-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2000" spc="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</a:t>
            </a:r>
            <a:r>
              <a:rPr sz="200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2000" spc="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sz="200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20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sz="200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20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200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200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sz="20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20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sz="200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5650" y="4774009"/>
            <a:ext cx="11144250" cy="10128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000" b="1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Trend</a:t>
            </a:r>
            <a:r>
              <a:rPr sz="2000" b="1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Identification</a:t>
            </a:r>
            <a:r>
              <a:rPr sz="2000" b="1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b="1" spc="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b="1" spc="-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b="1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</a:t>
            </a:r>
            <a:endParaRPr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lnSpc>
                <a:spcPts val="2400"/>
              </a:lnSpc>
              <a:spcBef>
                <a:spcPts val="90"/>
              </a:spcBef>
            </a:pP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</a:t>
            </a:r>
            <a:r>
              <a:rPr sz="200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enables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trend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identification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evaluates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salesperson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enhancing</a:t>
            </a:r>
            <a:r>
              <a:rPr sz="200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understanding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 </a:t>
            </a:r>
            <a:r>
              <a:rPr sz="2000" spc="-5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demand</a:t>
            </a:r>
            <a:r>
              <a:rPr sz="2000" spc="-1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across</a:t>
            </a:r>
            <a:r>
              <a:rPr sz="200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categories.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2503" y="1633773"/>
            <a:ext cx="79342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Power BI  dashboard is designed to visualize key performance indicators (KPIs) such as total sales, units sold, product categories, and regional performance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1524000"/>
            <a:ext cx="10864596" cy="5791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3" y="681901"/>
            <a:ext cx="6991097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4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b="1" spc="4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3" y="681901"/>
            <a:ext cx="8057897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4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visuals</a:t>
            </a:r>
            <a:endParaRPr b="1" spc="4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81303" y="1747882"/>
            <a:ext cx="7600698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Sales Metrics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Amount: 11M,</a:t>
            </a:r>
            <a:r>
              <a:rPr kumimoji="0" 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 Price: 309K,</a:t>
            </a:r>
            <a:r>
              <a:rPr kumimoji="0" 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Products to be Sold: 1.01M,</a:t>
            </a:r>
            <a:r>
              <a:rPr kumimoji="0" 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Sell Percentage Increase: 907K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 of Sale Amount by Category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Units Sold by </a:t>
            </a:r>
            <a:r>
              <a:rPr kumimoji="0" lang="en-US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SubCategory</a:t>
            </a: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kumimoji="0" lang="en-US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Treemap</a:t>
            </a: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by Salesman, Region, and Manager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Category-wise Sales Breakdown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SubCategory</a:t>
            </a: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Sales Share (Pie Chart)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Products Sold by Delivery Type (Line Chart)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by Region (Map Visualization)</a:t>
            </a:r>
          </a:p>
        </p:txBody>
      </p:sp>
    </p:spTree>
    <p:extLst>
      <p:ext uri="{BB962C8B-B14F-4D97-AF65-F5344CB8AC3E}">
        <p14:creationId xmlns:p14="http://schemas.microsoft.com/office/powerpoint/2010/main" val="808087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0" y="2878607"/>
            <a:ext cx="1024128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835">
              <a:lnSpc>
                <a:spcPct val="100000"/>
              </a:lnSpc>
              <a:spcBef>
                <a:spcPts val="100"/>
              </a:spcBef>
            </a:pPr>
            <a:r>
              <a:rPr lang="en-US" sz="9600" b="1" spc="300" dirty="0" smtClean="0">
                <a:solidFill>
                  <a:schemeClr val="accent1"/>
                </a:solidFill>
              </a:rPr>
              <a:t>THANK YOU</a:t>
            </a:r>
            <a:endParaRPr sz="9600" b="1" spc="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250</TotalTime>
  <Words>560</Words>
  <Application>Microsoft Office PowerPoint</Application>
  <PresentationFormat>Custom</PresentationFormat>
  <Paragraphs>98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Century Gothic</vt:lpstr>
      <vt:lpstr>Lucida Sans Unicode</vt:lpstr>
      <vt:lpstr>Tahoma</vt:lpstr>
      <vt:lpstr>Times New Roman</vt:lpstr>
      <vt:lpstr>Trebuchet MS</vt:lpstr>
      <vt:lpstr>Wingdings</vt:lpstr>
      <vt:lpstr>Wingdings 3</vt:lpstr>
      <vt:lpstr>Slice</vt:lpstr>
      <vt:lpstr>Data Warehouse  Implementation on Daraz Dataset</vt:lpstr>
      <vt:lpstr>Team Members</vt:lpstr>
      <vt:lpstr>Introduction to Data Warehousing</vt:lpstr>
      <vt:lpstr>TECHNOLOGIES USED</vt:lpstr>
      <vt:lpstr>Data Collection</vt:lpstr>
      <vt:lpstr>CSV FILES OVERVIEW </vt:lpstr>
      <vt:lpstr>Extract</vt:lpstr>
      <vt:lpstr>Transformation (HANDLING MISSING VALUES)</vt:lpstr>
      <vt:lpstr>Transformation </vt:lpstr>
      <vt:lpstr>Transformation </vt:lpstr>
      <vt:lpstr>VERIFYING THERE ARE NO MISSING VLAUES  </vt:lpstr>
      <vt:lpstr> </vt:lpstr>
      <vt:lpstr> </vt:lpstr>
      <vt:lpstr> </vt:lpstr>
      <vt:lpstr>DENORMALIZATION</vt:lpstr>
      <vt:lpstr>LOAD</vt:lpstr>
      <vt:lpstr>Data RoLAp Query</vt:lpstr>
      <vt:lpstr>Graph Illustrations through Pythons’s library Matplotlib</vt:lpstr>
      <vt:lpstr>Graph Illustrations through Python’s library Matplotlib</vt:lpstr>
      <vt:lpstr>Visualization</vt:lpstr>
      <vt:lpstr>POWER BI DASHBOARD</vt:lpstr>
      <vt:lpstr>Different visuals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Data-Warehouse-Implementation.pdf</dc:title>
  <dc:creator>Mustafa Sheikh</dc:creator>
  <cp:keywords>DAGVooSZNF4,BAFfShKQlYk</cp:keywords>
  <cp:lastModifiedBy>Microsoft account</cp:lastModifiedBy>
  <cp:revision>18</cp:revision>
  <dcterms:created xsi:type="dcterms:W3CDTF">2024-11-05T18:31:54Z</dcterms:created>
  <dcterms:modified xsi:type="dcterms:W3CDTF">2024-11-11T20:34:32Z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2024-11-05T00:00:00Z</vt:filetime>
  </property>
  <property fmtid="{D5CDD505-2E9C-101B-9397-08002B2CF9AE}" pid="3" name="Creator">
    <vt:lpwstr>Canva</vt:lpwstr>
  </property>
  <property fmtid="{D5CDD505-2E9C-101B-9397-08002B2CF9AE}" pid="4" name="LastSaved">
    <vt:filetime>2024-11-05T00:00:00Z</vt:filetime>
  </property>
</Properties>
</file>